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 balance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9E8-3C44-8A12-AF8E54AE5EA6}"/>
              </c:ext>
            </c:extLst>
          </c:dPt>
          <c:dPt>
            <c:idx val="1"/>
            <c:bubble3D val="0"/>
            <c:spPr>
              <a:solidFill>
                <a:srgbClr val="DBEAF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9E8-3C44-8A12-AF8E54AE5EA6}"/>
              </c:ext>
            </c:extLst>
          </c:dPt>
          <c:cat>
            <c:strRef>
              <c:f>Sheet1!$A$2:$A$3</c:f>
              <c:strCache>
                <c:ptCount val="2"/>
                <c:pt idx="0">
                  <c:v>Default (28.8%)</c:v>
                </c:pt>
                <c:pt idx="1">
                  <c:v>Repaid (71.2%)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28.8</c:v>
                </c:pt>
                <c:pt idx="1">
                  <c:v>71.2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E8-3C44-8A12-AF8E54AE5E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8C-EE4B-82EF-FE356505FAB2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8C-EE4B-82EF-FE356505FAB2}"/>
              </c:ext>
            </c:extLst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8C-EE4B-82EF-FE356505FAB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8C-EE4B-82EF-FE356505FAB2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8C-EE4B-82EF-FE356505FAB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 time</c:v>
                </c:pt>
                <c:pt idx="1">
                  <c:v>1–15d</c:v>
                </c:pt>
                <c:pt idx="2">
                  <c:v>16–30d</c:v>
                </c:pt>
                <c:pt idx="3">
                  <c:v>31–60d</c:v>
                </c:pt>
                <c:pt idx="4">
                  <c:v>&gt;60d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9.6</c:v>
                </c:pt>
                <c:pt idx="1">
                  <c:v>15.3</c:v>
                </c:pt>
                <c:pt idx="2">
                  <c:v>31.2</c:v>
                </c:pt>
                <c:pt idx="3">
                  <c:v>55</c:v>
                </c:pt>
                <c:pt idx="4">
                  <c:v>64.599999999999994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8C-EE4B-82EF-FE356505FA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B9-7C4A-9E41-E43A334C16EB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B9-7C4A-9E41-E43A334C16EB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B9-7C4A-9E41-E43A334C16EB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B9-7C4A-9E41-E43A334C16EB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B9-7C4A-9E41-E43A334C16EB}"/>
              </c:ext>
            </c:extLst>
          </c:dPt>
          <c:dPt>
            <c:idx val="5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DB9-7C4A-9E41-E43A334C16EB}"/>
              </c:ext>
            </c:extLst>
          </c:dPt>
          <c:dPt>
            <c:idx val="6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DB9-7C4A-9E41-E43A334C16EB}"/>
              </c:ext>
            </c:extLst>
          </c:dPt>
          <c:dPt>
            <c:idx val="7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DB9-7C4A-9E41-E43A334C16EB}"/>
              </c:ext>
            </c:extLst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DB9-7C4A-9E41-E43A334C16E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13.7</c:v>
                </c:pt>
                <c:pt idx="1">
                  <c:v>13.9</c:v>
                </c:pt>
                <c:pt idx="2">
                  <c:v>23.6</c:v>
                </c:pt>
                <c:pt idx="3">
                  <c:v>22.6</c:v>
                </c:pt>
                <c:pt idx="4">
                  <c:v>22.5</c:v>
                </c:pt>
                <c:pt idx="5">
                  <c:v>47.7</c:v>
                </c:pt>
                <c:pt idx="6">
                  <c:v>48.6</c:v>
                </c:pt>
                <c:pt idx="7">
                  <c:v>49.3</c:v>
                </c:pt>
                <c:pt idx="8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DB9-7C4A-9E41-E43A334C16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70-0249-B81D-266F425C1057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70-0249-B81D-266F425C1057}"/>
              </c:ext>
            </c:extLst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70-0249-B81D-266F425C105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70-0249-B81D-266F425C1057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70-0249-B81D-266F425C1057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Lowest</c:v>
                </c:pt>
                <c:pt idx="1">
                  <c:v>Low</c:v>
                </c:pt>
                <c:pt idx="2">
                  <c:v>Mid</c:v>
                </c:pt>
                <c:pt idx="3">
                  <c:v>High</c:v>
                </c:pt>
                <c:pt idx="4">
                  <c:v>Highest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39.799999999999997</c:v>
                </c:pt>
                <c:pt idx="1">
                  <c:v>28.8</c:v>
                </c:pt>
                <c:pt idx="2">
                  <c:v>27.6</c:v>
                </c:pt>
                <c:pt idx="3">
                  <c:v>31.9</c:v>
                </c:pt>
                <c:pt idx="4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70-0249-B81D-266F425C10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65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28016"/>
            <a:ext cx="12188952" cy="36576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310896" cy="310896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— ASSIGNMENT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Feature Store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Medallion data pipeline that turns four raw sources into one ML-ready, leakage-safe feature &amp; label store.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2331720" cy="713232"/>
          </a:xfrm>
          <a:prstGeom prst="roundRect">
            <a:avLst>
              <a:gd name="adj" fmla="val 11538"/>
            </a:avLst>
          </a:prstGeom>
          <a:solidFill>
            <a:srgbClr val="334155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406908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01568" y="4069080"/>
            <a:ext cx="2331720" cy="713232"/>
          </a:xfrm>
          <a:prstGeom prst="roundRect">
            <a:avLst>
              <a:gd name="adj" fmla="val 11538"/>
            </a:avLst>
          </a:prstGeom>
          <a:solidFill>
            <a:srgbClr val="B5703A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4069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33288" y="406908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0216" y="4069080"/>
            <a:ext cx="2331720" cy="713232"/>
          </a:xfrm>
          <a:prstGeom prst="roundRect">
            <a:avLst>
              <a:gd name="adj" fmla="val 11538"/>
            </a:avLst>
          </a:prstGeom>
          <a:solidFill>
            <a:srgbClr val="6F8499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0216" y="4069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31936" y="406908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98864" y="4069080"/>
            <a:ext cx="2331720" cy="713232"/>
          </a:xfrm>
          <a:prstGeom prst="roundRect">
            <a:avLst>
              <a:gd name="adj" fmla="val 11538"/>
            </a:avLst>
          </a:prstGeom>
          <a:solidFill>
            <a:srgbClr val="BE8C1B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98864" y="40690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STORE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5806440"/>
            <a:ext cx="11155680" cy="0"/>
          </a:xfrm>
          <a:prstGeom prst="line">
            <a:avLst/>
          </a:prstGeom>
          <a:noFill/>
          <a:ln w="12700">
            <a:solidFill>
              <a:srgbClr val="2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anh</a:t>
            </a:r>
            <a:r>
              <a:rPr lang="en-US" sz="13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Slideument for technical &amp; business stakeholders     ·   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messy sources become one ML-ready, leakage-safe feature store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945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8580" cy="14813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8562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9224" y="2532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50058" y="1691640"/>
            <a:ext cx="21945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50058" y="1691640"/>
            <a:ext cx="68580" cy="1481328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6362" y="18562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96362" y="2532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snapshots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2023 – Nov 2025)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97196" y="1691640"/>
            <a:ext cx="21945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97196" y="1691640"/>
            <a:ext cx="68580" cy="1481328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43500" y="18562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43500" y="2532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 unified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gold store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44334" y="1691640"/>
            <a:ext cx="21945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44334" y="1691640"/>
            <a:ext cx="68580" cy="1481328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90638" y="18562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+ 1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390638" y="2532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features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binary label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91472" y="1691640"/>
            <a:ext cx="219456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91472" y="1691640"/>
            <a:ext cx="68580" cy="14813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37776" y="18562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37776" y="2532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base rate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 balance)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56432"/>
            <a:ext cx="7040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456432"/>
            <a:ext cx="68580" cy="2697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" y="36210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and why it matters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8952" y="400507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wants to predict whether a customer will default at the moment they apply for a loan. Raw data arrived dirty, fragmented across four systems, and full of leakage traps.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" y="48006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engineered a three-tier Medallion pipeline — </a:t>
            </a:r>
            <a:r>
              <a:rPr lang="en-US" sz="12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(raw, replayable) → </a:t>
            </a:r>
            <a:r>
              <a:rPr lang="en-US" sz="1200" b="1" dirty="0">
                <a:solidFill>
                  <a:srgbClr val="6F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(cleaned, conformed, leakage-guarded) → </a:t>
            </a:r>
            <a:r>
              <a:rPr lang="en-US" sz="1200" b="1" dirty="0">
                <a:solidFill>
                  <a:srgbClr val="BE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(engineered features + a 30-DPD label store) — fully containerised and rerun with two commands.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3456432"/>
            <a:ext cx="386791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18120" y="3456432"/>
            <a:ext cx="68580" cy="2697480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74152" y="3621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vs. non-default</a:t>
            </a:r>
            <a:endParaRPr lang="en-US" sz="14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7909560" y="3931920"/>
          <a:ext cx="36576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BUSINESS PROBLEM &amp;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default at loan-application time from four user &amp; loan sources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77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8580" cy="3246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847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0664" y="221284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scientist at a lending bank, build the production data pipeline that prepares an ML feature store for a binary credit-default classifier — from raw data up to gold tables.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" y="3401568"/>
            <a:ext cx="3502152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3544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23544" y="38587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customer default?
</a:t>
            </a:r>
            <a:endParaRPr lang="en-US" sz="14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30+ days past due within the first 6 months on book.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6793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raw inputs treated as source systems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048256"/>
          <a:ext cx="6793992" cy="23957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Source file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Grain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Rows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Role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 features_attributes.csv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 / customer·month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12,500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Demographics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 features_financials.csv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 / customer·month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12,500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Credit &amp; income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 feature_clickstream.csv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many / customer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215,376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Behaviour fe_1–fe_20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 lms_loan_daily.csv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 / loan·month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137,500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Loan perf. → label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92040" y="4956048"/>
            <a:ext cx="6793992" cy="11704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4956048"/>
            <a:ext cx="68580" cy="1170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29784" y="5084064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is the #1 risk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9784" y="5413248"/>
            <a:ext cx="6336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temporal and train–test leakage would all inflate validation and fail in production. Each is addressed explicitly in the Silver and Gold layers (see slides 6, 7 &amp; 10).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Medallion pipeline: raw integration → cleaning → ML-ready aggregates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916936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9169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8503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6850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453128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453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loans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5239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95728" y="1783080"/>
            <a:ext cx="226771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95728" y="1783080"/>
            <a:ext cx="2267712" cy="749808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18562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560320" y="22037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715768"/>
            <a:ext cx="19019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all 4 sources verbatim — no cleaning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one file / source / month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landing zone for safe replay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0" y="5376672"/>
            <a:ext cx="1938528" cy="384048"/>
          </a:xfrm>
          <a:prstGeom prst="rect">
            <a:avLst/>
          </a:prstGeom>
          <a:solidFill>
            <a:srgbClr val="F4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53766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·  schema-on-read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783080"/>
            <a:ext cx="226771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2267712" cy="749808"/>
          </a:xfrm>
          <a:prstGeom prst="rect">
            <a:avLst/>
          </a:prstGeom>
          <a:solidFill>
            <a:srgbClr val="6F84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18562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02352" y="22037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conformed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715768"/>
            <a:ext cx="19019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schema; cast every column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junk values, outliers &amp; negatives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 guard on clickstream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02352" y="5376672"/>
            <a:ext cx="1938528" cy="384048"/>
          </a:xfrm>
          <a:prstGeom prst="rect">
            <a:avLst/>
          </a:prstGeom>
          <a:solidFill>
            <a:srgbClr val="E7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53766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 ·  typed &amp; compressed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79792" y="1783080"/>
            <a:ext cx="226771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79792" y="1783080"/>
            <a:ext cx="2267712" cy="749808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44384" y="18562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44384" y="22037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+ label store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62672" y="2715768"/>
            <a:ext cx="19019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ratios + target encoding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30-DPD / 6-MOB default label</a:t>
            </a:r>
            <a:endParaRPr lang="en-US" sz="1150" dirty="0"/>
          </a:p>
          <a:p>
            <a:pPr marL="152400" indent="-1524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Dual-key join (ID + snapshot_date)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44384" y="5376672"/>
            <a:ext cx="1938528" cy="384048"/>
          </a:xfrm>
          <a:prstGeom prst="rect">
            <a:avLst/>
          </a:prstGeom>
          <a:solidFill>
            <a:srgbClr val="F7EC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44384" y="53766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 ·  ML-ready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6347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54296" y="36347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96328" y="36347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0131552" y="315468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E2A47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131552" y="326440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
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assignment)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38944" y="36347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02920" y="608990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main.py as a monthly backfill loop — every tier writes partitioned, snapshot-dated files into a single datamart/ folder.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BRONZE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preserves raw data verbatim, partitioned by monthly snapshot for safe replay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0867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68580" cy="1920240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" y="1975104"/>
            <a:ext cx="384048" cy="384048"/>
          </a:xfrm>
          <a:prstGeom prst="ellipse">
            <a:avLst/>
          </a:prstGeom>
          <a:solidFill>
            <a:srgbClr val="F4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984248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landing zone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505456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CSVs are ingested as-is with inferSchema and zero cleaning. Bronze is an immutable audit trail — if logic changes downstream, we replay from here, never re-pull the source.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40867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77356" y="1737360"/>
            <a:ext cx="68580" cy="1920240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15100" y="1975104"/>
            <a:ext cx="384048" cy="384048"/>
          </a:xfrm>
          <a:prstGeom prst="ellipse">
            <a:avLst/>
          </a:prstGeom>
          <a:solidFill>
            <a:srgbClr val="F4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510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5452" y="1984248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snapshot_date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3388" y="2505456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source per month, e.g. bronze_financials_2024_06_01.csv. Enables incremental processing and partition pruning instead of rescanning all history.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40867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68580" cy="1920240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0664" y="4215384"/>
            <a:ext cx="384048" cy="384048"/>
          </a:xfrm>
          <a:prstGeom prst="ellipse">
            <a:avLst/>
          </a:prstGeom>
          <a:solidFill>
            <a:srgbClr val="F4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224528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monthly backfill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" y="4745736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generate_first_of_month_dates() drives a loop over 35 snapshots. Re-running overwrites a partition cleanly, so jobs are safe to retry.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7356" y="3977640"/>
            <a:ext cx="540867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7356" y="3977640"/>
            <a:ext cx="68580" cy="1920240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5100" y="4215384"/>
            <a:ext cx="384048" cy="384048"/>
          </a:xfrm>
          <a:prstGeom prst="ellipse">
            <a:avLst/>
          </a:prstGeom>
          <a:solidFill>
            <a:srgbClr val="F4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510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5452" y="4224528"/>
            <a:ext cx="44028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subfolder per source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3388" y="4745736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datamart/bronze/{lms, attributes, financials, clickstream} mirrors the upstream systems, keeping lineage obvious for engineers and auditors.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everything, change nothing. Bronze trades storage for full reproducibility and a clean separation between ingestion and transformation.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SILVER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enforces schema and repairs systematic data-quality defects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7360920" cy="369417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Field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Defect found in raw data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 Treatment applied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Age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junk chars ("_28_"), &lt;18 or &gt;100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strip non-digits → cast int → out-of-range to mode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Occupation / SSN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placeholders "_______", "#F%$D@*&amp;8"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replace with null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Credit_Mix, Pay_Behaviour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"_", "!@9#%8", "NM" sentinels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replace with null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Income / debt numerics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currency junk, stray negatives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regex-clean → cast → negatives to null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Accounts / cards / inquiries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impossible outliers (e.g. 1000s)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cap to range → impute mode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Type_of_Loan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comma-delimited free text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split into array; size repairs Num_of_Loan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 Delay_from_due_date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negative day counts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absolute value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502152" cy="2331720"/>
          </a:xfrm>
          <a:prstGeom prst="rect">
            <a:avLst/>
          </a:prstGeom>
          <a:solidFill>
            <a:srgbClr val="CCFBF1"/>
          </a:solidFill>
          <a:ln w="12700">
            <a:solidFill>
              <a:srgbClr val="0E9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183880" y="1691640"/>
            <a:ext cx="68580" cy="233172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8403336" y="1828800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 guard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03336" y="2157984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rows after the application point are dropped: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filter(snapshot_date ≤ application_date)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never sees behaviour from the future.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83880" y="4206240"/>
            <a:ext cx="350215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183880" y="4206240"/>
            <a:ext cx="68580" cy="1920240"/>
          </a:xfrm>
          <a:prstGeom prst="rect">
            <a:avLst/>
          </a:prstGeom>
          <a:solidFill>
            <a:srgbClr val="6F84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03336" y="433425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&amp; persist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21624" y="466344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to one row per Customer_ID; drop null keys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clickstream metrics → 0; negatives kept (they carry meaning per EDA)</a:t>
            </a:r>
            <a:endParaRPr lang="en-US" sz="1050" dirty="0"/>
          </a:p>
          <a:p>
            <a:pPr marL="139700" indent="-139700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typed, columnar, compressed Parquet — one partition per month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553212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inspected — no repairs needed:  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LMS loan tape was already well-formed, and Customer_ID &amp; Name were validated as clean.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GOLD LAYER — LABEL STORE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 a 30-DPD-within-6-MOB window — robust to transient delinquency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68580" cy="2788920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8836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label is computed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0664" y="2249424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(Month-on-Book)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installment number; we observe months 1–6.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(Days Past Due)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overdue ÷ due → installments missed → first-missed date → datediff to snapshot.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BE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1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</a:t>
            </a: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DPD over the 6-MOB window ≥ 30 days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else 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42239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68580" cy="2788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1384" y="18836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definition?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01384" y="2249424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one-off late payments — a single missed installment isn't a default</a:t>
            </a:r>
            <a:endParaRPr lang="en-US" sz="115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window function for the worst delinquency reached, not just the latest snapshot</a:t>
            </a:r>
            <a:endParaRPr lang="en-US" sz="115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industry credit-risk performance windows (e.g. xDPD@yMOB)</a:t>
            </a:r>
            <a:endParaRPr lang="en-US" sz="1150" dirty="0"/>
          </a:p>
          <a:p>
            <a:pPr marL="139700" indent="-1397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to one labelled row per customer; ~28.8% bad rate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window (Month-on-Book)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55064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55064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07208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07208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59352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9352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11496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11496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5166360"/>
            <a:ext cx="1078992" cy="566928"/>
          </a:xfrm>
          <a:prstGeom prst="rect">
            <a:avLst/>
          </a:prstGeom>
          <a:solidFill>
            <a:srgbClr val="F7ECC9"/>
          </a:solidFill>
          <a:ln w="127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15784" y="5166360"/>
            <a:ext cx="1078992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15784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67928" y="5166360"/>
            <a:ext cx="1078992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67928" y="5166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843016"/>
            <a:ext cx="6839712" cy="0"/>
          </a:xfrm>
          <a:prstGeom prst="line">
            <a:avLst/>
          </a:prstGeom>
          <a:noFill/>
          <a:ln w="25400">
            <a:solidFill>
              <a:srgbClr val="BE8C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5879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E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for label  →  max DPD ≥ 30 ⇒ default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15784" y="5879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mature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GOLD LAYER — FEATURE STORE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ratios and target-encoded categoricals turn raw fields into signal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7632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68580" cy="2148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45720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65176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EMI-to-Salary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Propensity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risk across income levels.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1850" y="1737360"/>
            <a:ext cx="257632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71850" y="1737360"/>
            <a:ext cx="68580" cy="214884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54730" y="1938528"/>
            <a:ext cx="457200" cy="109728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54730" y="2103120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3018" y="265176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parsed "Xy Ym" → months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to snapshot date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is_Credit_Age_gt_15 flag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4730" y="342900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numeric, time-correct.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40780" y="1737360"/>
            <a:ext cx="257632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40780" y="1737360"/>
            <a:ext cx="68580" cy="2148840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23660" y="1938528"/>
            <a:ext cx="457200" cy="109728"/>
          </a:xfrm>
          <a:prstGeom prst="rect">
            <a:avLst/>
          </a:prstGeom>
          <a:solidFill>
            <a:srgbClr val="BE8C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3660" y="2103120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1948" y="265176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Occupation_Idx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Spend_Level_Idx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Payment_Value_Level_Idx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3660" y="342900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its default rate; no high-cardinality one-hot.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09710" y="1737360"/>
            <a:ext cx="257632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09710" y="1737360"/>
            <a:ext cx="68580" cy="2148840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92590" y="1938528"/>
            <a:ext cx="457200" cy="109728"/>
          </a:xfrm>
          <a:prstGeom prst="rect">
            <a:avLst/>
          </a:prstGeom>
          <a:solidFill>
            <a:srgbClr val="B5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92590" y="2103120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balance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0878" y="2651760"/>
            <a:ext cx="22105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Is_Age_gt_45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#accounts / cards / loans</a:t>
            </a:r>
            <a:endParaRPr lang="en-US" sz="1000" dirty="0"/>
          </a:p>
          <a:p>
            <a:pPr marL="127000" indent="-1270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debt, utilisation, EMI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92590" y="342900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 profile.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68580" cy="1417320"/>
          </a:xfrm>
          <a:prstGeom prst="rect">
            <a:avLst/>
          </a:prstGeom>
          <a:solidFill>
            <a:srgbClr val="6F84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" y="4297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" y="4626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anonymised clickstream metrics fe_1 … fe_20 are carried through as-is — engagement signal whose negative values are retained because EDA showed they recur and carry meaning.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4160520"/>
            <a:ext cx="5696712" cy="1417320"/>
          </a:xfrm>
          <a:prstGeom prst="rect">
            <a:avLst/>
          </a:prstGeom>
          <a:solidFill>
            <a:srgbClr val="0E2A47"/>
          </a:solidFill>
          <a:ln/>
          <a:effectLst>
            <a:outerShdw blurRad="114300" dist="38100" dir="8100000" algn="bl" rotWithShape="0">
              <a:srgbClr val="0A1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FEATURE 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6085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model-ready features + 1 label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customer · snapshot. Built with a </a:t>
            </a: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dual-key join (Customer_ID + snapshot_date)</a:t>
            </a: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no future-month data can leak in.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EDA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confirms the signal: delinquency, leverage and income all track default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6118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20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payment delinquency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12648" y="2514600"/>
          <a:ext cx="339242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818888"/>
            <a:ext cx="3246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EDA's strongest signal — default climbs from ~10% (on-time) to ~65% (&gt;60 days late). Drives the delinquency features.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98264" y="1874520"/>
            <a:ext cx="36118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81144" y="2020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number of loans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507992" y="2514600"/>
          <a:ext cx="339242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81144" y="4818888"/>
            <a:ext cx="3246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rises with active loans. Even 0-loan customers default (~49.9k) — likely sold to debt collection, so kept, not dropped.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293608" y="1874520"/>
            <a:ext cx="36118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476488" y="2020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income bucket</a:t>
            </a:r>
            <a:endParaRPr lang="en-US" sz="1200" dirty="0"/>
          </a:p>
        </p:txBody>
      </p:sp>
      <p:graphicFrame>
        <p:nvGraphicFramePr>
          <p:cNvPr id="14" name="Chart 2"/>
          <p:cNvGraphicFramePr/>
          <p:nvPr/>
        </p:nvGraphicFramePr>
        <p:xfrm>
          <a:off x="8403336" y="2514600"/>
          <a:ext cx="339242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10"/>
          <p:cNvSpPr/>
          <p:nvPr/>
        </p:nvSpPr>
        <p:spPr>
          <a:xfrm>
            <a:off x="8476488" y="4818888"/>
            <a:ext cx="3246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income → higher default; bank-account &amp; credit-card counts show the same rising trend in EDA.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CS611 · Machine Learning Engineering · Assignment 1 · anh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183112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ENGINEERING, LEAKAGE DEFENSE &amp; REPRODUCIBILITY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Leakage-proof by design and containerised for one-command reproducibility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83864" cy="2788920"/>
          </a:xfrm>
          <a:prstGeom prst="rect">
            <a:avLst/>
          </a:prstGeom>
          <a:solidFill>
            <a:srgbClr val="0E2A47"/>
          </a:solidFill>
          <a:ln w="12700">
            <a:solidFill>
              <a:srgbClr val="2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83864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9385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defenses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" y="2450592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clickstream filtered to ≤ application date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label from past performance only; raw answer columns excluded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Dual-key join blocks cross-date bleed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Train–test: scaler fit on training fold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737360"/>
            <a:ext cx="3483864" cy="2788920"/>
          </a:xfrm>
          <a:prstGeom prst="rect">
            <a:avLst/>
          </a:prstGeom>
          <a:solidFill>
            <a:srgbClr val="0E2A47"/>
          </a:solidFill>
          <a:ln w="12700">
            <a:solidFill>
              <a:srgbClr val="2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52544" y="1737360"/>
            <a:ext cx="3483864" cy="64008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450592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utils/ — one module per Medallion tier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runs the full bronze→silver→gold backfill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→ JupyterLab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Parquet datamart; pinned requirements.txt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02168" y="1737360"/>
            <a:ext cx="3483864" cy="2788920"/>
          </a:xfrm>
          <a:prstGeom prst="rect">
            <a:avLst/>
          </a:prstGeom>
          <a:solidFill>
            <a:srgbClr val="0E2A47"/>
          </a:solidFill>
          <a:ln w="12700">
            <a:solidFill>
              <a:srgbClr val="2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02168" y="1737360"/>
            <a:ext cx="348386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21624" y="19385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in 2 steps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9912" y="2450592"/>
            <a:ext cx="3026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 →  opens JupyterLab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 →  builds datamart/{bronze, silver, gold}</a:t>
            </a:r>
            <a:endParaRPr lang="en-US" sz="1100" dirty="0"/>
          </a:p>
          <a:p>
            <a:pPr marL="139700" indent="-1397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PySpark 3.5 · Python 3.12 · XGBoost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11183112" cy="1325880"/>
          </a:xfrm>
          <a:prstGeom prst="rect">
            <a:avLst/>
          </a:prstGeom>
          <a:solidFill>
            <a:srgbClr val="10325A"/>
          </a:solidFill>
          <a:ln w="12700">
            <a:solidFill>
              <a:srgbClr val="0E9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82296" cy="132588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956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248656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XGBoost trained on the gold store reaches Test AUC ≈ 0.63 / Gini ≈ 0.26 and holds on out-of-time data. </a:t>
            </a:r>
            <a:r>
              <a:rPr lang="en-US" sz="1250" dirty="0">
                <a:solidFill>
                  <a:srgbClr val="C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well below 1.0 confirms the store is ML-compatible with no target leakage — a leak would push AUC near-perfect.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 ·  CS611 Machine Learning Engineering  ·  Assignment 1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Microsoft Macintosh PowerPoint</Application>
  <PresentationFormat>Widescreen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Default Feature Store - Medallion Data Pipeline</dc:title>
  <dc:subject>PptxGenJS Presentation</dc:subject>
  <dc:creator>anh</dc:creator>
  <cp:lastModifiedBy>ANH BUI</cp:lastModifiedBy>
  <cp:revision>1</cp:revision>
  <dcterms:created xsi:type="dcterms:W3CDTF">2026-05-20T16:05:15Z</dcterms:created>
  <dcterms:modified xsi:type="dcterms:W3CDTF">2026-05-20T16:06:50Z</dcterms:modified>
</cp:coreProperties>
</file>